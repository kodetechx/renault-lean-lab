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da metodologia adotada no projeto de digitalização do Laboratório de Lean Manufacturing da Renault no UniSenai.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desafio veio do Registro de Demanda da Renault. O ponto central é sair do papel: coletar, organizar e analisar os dados do laboratório de forma digital, respeitando cinco restrições.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geral responde ao desafio com um recorte viável: uma estação piloto. Os específicos seguem a ordem em que o trabalho foi executado.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escolha da Design Science Research se justifica porque o produto do trabalho é um artefato — o protótipo — que é construído e avaliado. A avaliação tem caráter experimental, com cenários controlados.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estação acrescenta uma camada de cor sobre a peça-base. É isso que o sistema verifica. As restrições de acesso explicam por que as sessões de captura precisaram ser roteirizadas.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etapas 3 e 5 — desenvolver e avaliar — formam o ciclo que se repetiu: por exemplo, a avaliação da primeira versão do modelo levou à troca por detecção de objetos.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vez de ensinar o modelo a reconhecer todos os estados de montagem incompleta, a conformidade é uma regra de negócio: comparar o que foi detectado com o esperado para a estação.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diferença entre as duas situações: nas camadas verde e azul o sistema só conta os parafusos; nas camadas amarela e vermelha, verifica também se as quatro peças de encaixe estão presentes.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janela de acesso semanal exigiu sessões de captura roteirizadas. A anotação foi feita no CVAT rodando localmente para respeitar a confidencialidade.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iteração serviu como linha de base. Seus limites motivaram a migração para detecção de objetos. O alerta na tela aplica o princípio de jidoka: o próprio processo sinaliza a anomalia.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dados estruturados saem da estação. A camada de persistência usa mapeamento objeto-relacional, então trocar SQLite por um banco maior não afeta o resto. Se a API cair, a estação guarda os eventos localmente.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sistema detectando a peça e os componentes, o alerta quando a montagem está incorreta e os dados chegando ao painel.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primeiro nível mede o modelo isolado. O segundo mede o sistema inteiro na estação, comparando com o que um observador humano registra. Também colhemos o retorno do responsável técnico da Renault e do orientador.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dos erros orienta a próxima iteração do artefato. A confidencialidade é uma exigência do laboratório e influenciou escolhas técnicas, como o CVAT local e o processamento na borda.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retomar as quatro decisões metodológicas principais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320040" cy="32004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1288" y="1371600"/>
            <a:ext cx="320040" cy="320040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91056" y="1371600"/>
            <a:ext cx="320040" cy="3200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0824" y="1371600"/>
            <a:ext cx="320040" cy="320040"/>
          </a:xfrm>
          <a:prstGeom prst="rect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 automatizada da montagem com visão computacional de baixo custo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do projeto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120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de Lean Manufacturing da Renault do Brasil · UniSenai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· Jornadas de Aprendizagem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46304" cy="14630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502920"/>
            <a:ext cx="146304" cy="146304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502920"/>
            <a:ext cx="146304" cy="146304"/>
          </a:xfrm>
          <a:prstGeom prst="rect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 proposto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Demanda — Renault do Brasil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760720" cy="4206240"/>
          </a:xfrm>
          <a:prstGeom prst="roundRect">
            <a:avLst>
              <a:gd name="adj" fmla="val 1739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6517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laboratório utiliza processos manuais, com registros em papel e informações descentralizadas.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do desafio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776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desenvolver uma solução tecnológica que digitalize e integre os processos do laboratório, substituindo registros manuais e permitindo a coleta, organização, visualização e análise inteligente dos dados?”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5120" y="2560320"/>
            <a:ext cx="502920" cy="502920"/>
          </a:xfrm>
          <a:prstGeom prst="ellipse">
            <a:avLst/>
          </a:prstGeom>
          <a:solidFill>
            <a:srgbClr val="26333F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0850" y="2686050"/>
            <a:ext cx="251460" cy="2514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360920" y="2560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infraestrutura e os recursos do laboratório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675120" y="3291840"/>
            <a:ext cx="502920" cy="502920"/>
          </a:xfrm>
          <a:prstGeom prst="ellipse">
            <a:avLst/>
          </a:prstGeom>
          <a:solidFill>
            <a:srgbClr val="26333F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3417570"/>
            <a:ext cx="251460" cy="2514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360920" y="3291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baixo custo e tecnologias acessíveis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675120" y="4023360"/>
            <a:ext cx="502920" cy="502920"/>
          </a:xfrm>
          <a:prstGeom prst="ellipse">
            <a:avLst/>
          </a:prstGeom>
          <a:solidFill>
            <a:srgbClr val="26333F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4149090"/>
            <a:ext cx="251460" cy="2514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360920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os dados e informações da Renault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675120" y="4754880"/>
            <a:ext cx="502920" cy="502920"/>
          </a:xfrm>
          <a:prstGeom prst="ellipse">
            <a:avLst/>
          </a:prstGeom>
          <a:solidFill>
            <a:srgbClr val="26333F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488061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60920" y="47548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ao menos um protótipo funcional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6675120" y="5486400"/>
            <a:ext cx="502920" cy="502920"/>
          </a:xfrm>
          <a:prstGeom prst="ellipse">
            <a:avLst/>
          </a:prstGeom>
          <a:solidFill>
            <a:srgbClr val="26333F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561213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360920" y="5486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escalável para novos processos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46304" cy="14630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502920"/>
            <a:ext cx="146304" cy="146304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502920"/>
            <a:ext cx="146304" cy="146304"/>
          </a:xfrm>
          <a:prstGeom prst="rect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114550"/>
            <a:ext cx="388620" cy="3886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74520" y="173736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e avaliar uma solução de baixo custo, baseada em visão computacional e IA, para verificar automaticamente a montagem na estação piloto e registrar contagem de peças e tempo de ciclo.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749040"/>
            <a:ext cx="2029968" cy="2468880"/>
          </a:xfrm>
          <a:prstGeom prst="roundRect">
            <a:avLst>
              <a:gd name="adj" fmla="val 360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572000"/>
            <a:ext cx="16642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requisitos e definir a regra de conformidade por estação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807208" y="3749040"/>
            <a:ext cx="2029968" cy="2468880"/>
          </a:xfrm>
          <a:prstGeom prst="roundRect">
            <a:avLst>
              <a:gd name="adj" fmla="val 360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90088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C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2990088" y="4572000"/>
            <a:ext cx="16642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 anotar um conjunto de imagens da peça e seus componentes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65776" y="3749040"/>
            <a:ext cx="2029968" cy="2468880"/>
          </a:xfrm>
          <a:prstGeom prst="roundRect">
            <a:avLst>
              <a:gd name="adj" fmla="val 360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48656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5248656" y="4572000"/>
            <a:ext cx="16642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e comparar modelos de classificação e de detecção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24344" y="3749040"/>
            <a:ext cx="2029968" cy="2468880"/>
          </a:xfrm>
          <a:prstGeom prst="roundRect">
            <a:avLst>
              <a:gd name="adj" fmla="val 360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07224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7507224" y="4572000"/>
            <a:ext cx="16642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 arquitetura: estação → comunicação → API → banco → painel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582912" y="3749040"/>
            <a:ext cx="2029968" cy="2468880"/>
          </a:xfrm>
          <a:prstGeom prst="roundRect">
            <a:avLst>
              <a:gd name="adj" fmla="val 360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765792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3"/>
          <p:cNvSpPr txBox="1"/>
          <p:nvPr/>
        </p:nvSpPr>
        <p:spPr>
          <a:xfrm>
            <a:off x="9765792" y="4572000"/>
            <a:ext cx="16642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solução em testes controlados na estação piloto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46304" cy="14630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502920"/>
            <a:ext cx="146304" cy="146304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502920"/>
            <a:ext cx="146304" cy="146304"/>
          </a:xfrm>
          <a:prstGeom prst="rect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da pesquisa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estudo se enquadra metodologicamente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560320" cy="411480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77440"/>
            <a:ext cx="685800" cy="68580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548890"/>
            <a:ext cx="342900" cy="3429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NATUREZA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566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Aplicada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4348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um problema prático do laboratório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669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Prodanov; Freitas (2013)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83280" y="2103120"/>
            <a:ext cx="2560320" cy="411480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2377440"/>
            <a:ext cx="685800" cy="68580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2548890"/>
            <a:ext cx="342900" cy="3429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65760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3657600" y="3566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Exploratória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3657600" y="44348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 a viabilidade de IA de baixo custo em contexto pouco estudado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3657600" y="5669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 (2002)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217920" y="2103120"/>
            <a:ext cx="2560320" cy="411480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92240" y="2377440"/>
            <a:ext cx="685800" cy="68580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90" y="2548890"/>
            <a:ext cx="342900" cy="3429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49224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ABORDAGEM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492240" y="3566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Quali-quantitativa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6492240" y="44348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Caracterização do processo e análise de erros + métricas e indicadores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6492240" y="5669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 (2002); Will (2023)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9052560" y="2103120"/>
            <a:ext cx="2560320" cy="411480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326880" y="2377440"/>
            <a:ext cx="685800" cy="68580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330" y="2548890"/>
            <a:ext cx="342900" cy="3429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32688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PROCEDIMENTOS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9326880" y="3566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Science Research</a:t>
            </a:r>
            <a:endParaRPr lang="en-US" sz="2000" dirty="0"/>
          </a:p>
        </p:txBody>
      </p:sp>
      <p:sp>
        <p:nvSpPr>
          <p:cNvPr id="34" name="Text 28"/>
          <p:cNvSpPr txBox="1"/>
          <p:nvPr/>
        </p:nvSpPr>
        <p:spPr>
          <a:xfrm>
            <a:off x="9326880" y="44348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iterativa de um artefato, avaliado experimentalmente em laboratório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9326880" y="5669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Hevner et al. (2004); Dresch et al. (2015)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46304" cy="14630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502920"/>
            <a:ext cx="146304" cy="146304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502920"/>
            <a:ext cx="146304" cy="146304"/>
          </a:xfrm>
          <a:prstGeom prst="rect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do estudo e unidade de análise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de Lean Manufacturing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Renault do Brasil · UniSenai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estações de montagem e 5 de reciclagem e desmontagem.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de análise: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estação piloto de montagem. A lógica é parametrizada por estação para ser replicada sem mudar a arquitetura.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17830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Estação 4 · camada vermelha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2350008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0" y="2350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Estação 3 · camada azul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0" y="2916936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0" y="2916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Estação 2 · camada amarela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3483864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0" y="34838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Estação 1 · camada verde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405079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9AA3AB"/>
          </a:solidFill>
          <a:ln w="12700">
            <a:solidFill>
              <a:srgbClr val="9AA3A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0" y="4050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Peça-base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 que moldam o método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44068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508760" y="5120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semanal, em horário fixo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297680" y="502920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26280" y="5303520"/>
            <a:ext cx="548640" cy="54864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44068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257800" y="5120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capturadas só presencialmente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046720" y="502920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275320" y="5303520"/>
            <a:ext cx="548640" cy="54864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544068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006840" y="51206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restritos a fins acadêmicos e à Renault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46304" cy="14630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502920"/>
            <a:ext cx="146304" cy="146304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502920"/>
            <a:ext cx="146304" cy="146304"/>
          </a:xfrm>
          <a:prstGeom prst="rect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da pesquisa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Design Science Research (Peffers et al., 2007), executado de forma iterativa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691640" cy="3017520"/>
          </a:xfrm>
          <a:prstGeom prst="roundRect">
            <a:avLst>
              <a:gd name="adj" fmla="val 432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14600"/>
            <a:ext cx="640080" cy="6400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37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o problema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1605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Demanda, observação do processo, restrições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23160" y="2286000"/>
            <a:ext cx="1691640" cy="3017520"/>
          </a:xfrm>
          <a:prstGeom prst="roundRect">
            <a:avLst>
              <a:gd name="adj" fmla="val 432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2514600"/>
            <a:ext cx="640080" cy="6400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517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3337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objetivos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41605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Escopo, requisitos e regra de conformidade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7680" y="2286000"/>
            <a:ext cx="1691640" cy="3017520"/>
          </a:xfrm>
          <a:prstGeom prst="roundRect">
            <a:avLst>
              <a:gd name="adj" fmla="val 4324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2514600"/>
            <a:ext cx="640080" cy="6400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337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Projetar e desenvolver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1605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modelos, API, banco e painel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2286000"/>
            <a:ext cx="1691640" cy="3017520"/>
          </a:xfrm>
          <a:prstGeom prst="roundRect">
            <a:avLst>
              <a:gd name="adj" fmla="val 432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2514600"/>
            <a:ext cx="640080" cy="6400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3337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41605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na estação com peças reais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46720" y="2286000"/>
            <a:ext cx="1691640" cy="3017520"/>
          </a:xfrm>
          <a:prstGeom prst="roundRect">
            <a:avLst>
              <a:gd name="adj" fmla="val 4324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2514600"/>
            <a:ext cx="640080" cy="6400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3337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1605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teste e testes controlados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921240" y="2286000"/>
            <a:ext cx="1691640" cy="3017520"/>
          </a:xfrm>
          <a:prstGeom prst="roundRect">
            <a:avLst>
              <a:gd name="adj" fmla="val 432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49840" y="2514600"/>
            <a:ext cx="640080" cy="6400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1498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0" y="3337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0" y="41605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Documentação, artigo e apresentação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926080" y="5623560"/>
            <a:ext cx="6309360" cy="54864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926080" y="56235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resultados de cada avaliação retroalimentam o projeto do artefato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46304" cy="14630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502920"/>
            <a:ext cx="146304" cy="146304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502920"/>
            <a:ext cx="146304" cy="146304"/>
          </a:xfrm>
          <a:prstGeom prst="rect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conformidade da montagem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 por estação, confirmada com o responsável técnico da Renault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Camada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Parafusos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Peças de encaixe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AA3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 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 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C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 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Amarela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(circular, retangular, hexagonal, cápsula)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6F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 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84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 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Vermelha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(circular, retangular, hexagonal, cápsula)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2103120"/>
            <a:ext cx="3840480" cy="4023360"/>
          </a:xfrm>
          <a:prstGeom prst="roundRect">
            <a:avLst>
              <a:gd name="adj" fmla="val 1905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0" y="2377440"/>
            <a:ext cx="640080" cy="64008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6740" y="25374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46720" y="3154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não inspecionar cada peça interna?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046720" y="38862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encaixe mecânico já impede a montagem em posição errada — um poka-yoke (Shingo, 1986). A inspeção se concentra no que o projeto do produto não protege contra erro. Avarias ficaram fora do escopo: não há peças com defeito real para treinar.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46304" cy="14630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502920"/>
            <a:ext cx="146304" cy="146304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502920"/>
            <a:ext cx="146304" cy="146304"/>
          </a:xfrm>
          <a:prstGeom prst="rect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peças verificadas pelo sistema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reais das duas situações previstas na regra de conformidade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37744" cy="237744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057400"/>
            <a:ext cx="237744" cy="237744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1938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Somente parafusos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EEF1F4"/>
          </a:solidFill>
          <a:ln w="19050">
            <a:solidFill>
              <a:srgbClr val="9AA3AB"/>
            </a:solidFill>
            <a:prstDash val="dash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1780" y="3200400"/>
            <a:ext cx="822960" cy="8229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22960" y="41148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imagem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que precisa apenas de parafusos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6692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verde e azul · 4 parafusos, nenhuma peça de encaixe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63640" y="2057400"/>
            <a:ext cx="237744" cy="237744"/>
          </a:xfrm>
          <a:prstGeom prst="ellipse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56248" y="2057400"/>
            <a:ext cx="237744" cy="237744"/>
          </a:xfrm>
          <a:prstGeom prst="ellipse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9440" y="1938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Parafusos e peças de encaixe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263640" y="256032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EEF1F4"/>
          </a:solidFill>
          <a:ln w="19050">
            <a:solidFill>
              <a:srgbClr val="9AA3AB"/>
            </a:solidFill>
            <a:prstDash val="dash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780" y="3200400"/>
            <a:ext cx="822960" cy="8229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537960" y="41148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imagem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que precisa de encaixes e parafusos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263640" y="56692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amarela e vermelha · 4 parafusos + 4 encaixes (circular, retangular, hexagonal, cápsula)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46304" cy="14630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502920"/>
            <a:ext cx="146304" cy="146304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502920"/>
            <a:ext cx="146304" cy="146304"/>
          </a:xfrm>
          <a:prstGeom prst="rect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e preparação do conjunto de dados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1.783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da peça montada na primeira coleta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5 camadas, parafuso e 4 peças de encaixe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70/15/15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treino / validação / teste, estratificada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26333F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4091940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71600" y="3931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roteirizada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7091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e celular; variação de ângulo, distância, posição e iluminação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931920" y="3931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4297680" y="3931920"/>
            <a:ext cx="640080" cy="640080"/>
          </a:xfrm>
          <a:prstGeom prst="ellipse">
            <a:avLst/>
          </a:prstGeom>
          <a:solidFill>
            <a:srgbClr val="26333F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4091940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120640" y="3931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Anotação no CVAT local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4297680" y="47091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Caixas delimitadoras para a peça e cada componente; nada vai para servidores externos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7680960" y="3931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2"/>
          <p:cNvSpPr/>
          <p:nvPr/>
        </p:nvSpPr>
        <p:spPr>
          <a:xfrm>
            <a:off x="8046720" y="3931920"/>
            <a:ext cx="640080" cy="640080"/>
          </a:xfrm>
          <a:prstGeom prst="ellipse">
            <a:avLst/>
          </a:prstGeom>
          <a:solidFill>
            <a:srgbClr val="26333F"/>
          </a:solidFill>
          <a:ln w="12700">
            <a:solidFill>
              <a:srgbClr val="26333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091940"/>
            <a:ext cx="320040" cy="32004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869680" y="3931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Exportação e divisão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8046720" y="47091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YOLO; conjunto de teste isolado até a avaliação final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46304" cy="14630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502920"/>
            <a:ext cx="146304" cy="146304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502920"/>
            <a:ext cx="146304" cy="146304"/>
          </a:xfrm>
          <a:prstGeom prst="rect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do modelo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incremental, guiada pelos resultados de cada avaliação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4937760" cy="3017520"/>
          </a:xfrm>
          <a:prstGeom prst="roundRect">
            <a:avLst>
              <a:gd name="adj" fmla="val 242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286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ITERAÇÃO 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06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· MobileNetV2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546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learning, leve para notebook sem GPU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rótulo por quadro inteiro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Limitação: não conta parafusos nem trata várias peças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31089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ITERAÇÃO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Detecção de objetos · YOLO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1546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e classifica vários objetos por quadro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nano (Ultralytics), com ajuste fino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evita contar a mesma peça duas vezes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ciclo: 1ª à última detecção da peça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594360" cy="594360"/>
          </a:xfrm>
          <a:prstGeom prst="ellipse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5589270"/>
            <a:ext cx="297180" cy="2971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325880" y="5349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imediato na estação ao detectar não conformidade (jidoka — Ohno, 1997)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17920" y="5440680"/>
            <a:ext cx="594360" cy="5943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510" y="5589270"/>
            <a:ext cx="297180" cy="2971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995160" y="5349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na borda: imagens brutas não saem da estação (Shi et al., 2016)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46304" cy="14630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502920"/>
            <a:ext cx="146304" cy="146304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502920"/>
            <a:ext cx="146304" cy="146304"/>
          </a:xfrm>
          <a:prstGeom prst="rect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da solução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dados de ponta a ponta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331720"/>
            <a:ext cx="685800" cy="6858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2503170"/>
            <a:ext cx="342900" cy="3429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3154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Câmera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61188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na bancada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148840" y="29260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441448" y="210312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98648" y="2331720"/>
            <a:ext cx="685800" cy="6858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098" y="2503170"/>
            <a:ext cx="342900" cy="3429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532888" y="3154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na borda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2551176" y="361188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regra de conformidade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041648" y="29260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334256" y="210312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791456" y="2331720"/>
            <a:ext cx="685800" cy="68580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906" y="2503170"/>
            <a:ext cx="342900" cy="3429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425696" y="3154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4443984" y="361188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Mosquitto, um tópico por estação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934456" y="29260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6227064" y="210312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684264" y="2331720"/>
            <a:ext cx="685800" cy="68580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714" y="2503170"/>
            <a:ext cx="342900" cy="3429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154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FastAPI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6336792" y="361188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 grava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7827264" y="29260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8119872" y="210312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577072" y="2331720"/>
            <a:ext cx="685800" cy="68580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8522" y="2503170"/>
            <a:ext cx="342900" cy="3429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211312" y="3154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8229600" y="361188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das inspeções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720072" y="29260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Shape 31"/>
          <p:cNvSpPr/>
          <p:nvPr/>
        </p:nvSpPr>
        <p:spPr>
          <a:xfrm>
            <a:off x="10012680" y="210312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0469880" y="2331720"/>
            <a:ext cx="685800" cy="68580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1330" y="2503170"/>
            <a:ext cx="342900" cy="3429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104120" y="3154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</a:t>
            </a:r>
            <a:endParaRPr lang="en-US" sz="1500" dirty="0"/>
          </a:p>
        </p:txBody>
      </p:sp>
      <p:sp>
        <p:nvSpPr>
          <p:cNvPr id="42" name="Text 34"/>
          <p:cNvSpPr txBox="1"/>
          <p:nvPr/>
        </p:nvSpPr>
        <p:spPr>
          <a:xfrm>
            <a:off x="10122408" y="361188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por estação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548640" y="457200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ESTAÇÃO (BORDA)</a:t>
            </a:r>
            <a:endParaRPr lang="en-US" sz="1100" dirty="0"/>
          </a:p>
        </p:txBody>
      </p:sp>
      <p:sp>
        <p:nvSpPr>
          <p:cNvPr id="44" name="Text 36"/>
          <p:cNvSpPr txBox="1"/>
          <p:nvPr/>
        </p:nvSpPr>
        <p:spPr>
          <a:xfrm>
            <a:off x="4334256" y="4572000"/>
            <a:ext cx="7278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E VISUALIZAÇÃO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822960" y="51206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JSON: </a:t>
            </a:r>
            <a:pPr indent="0" marL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estação, camada esperada e detectada, parafusos e encaixes detectados, status (OK/NOK), tempo de ciclo e data/hora. Com uma única estação, o evento pode ir direto à API por HTTP; o MQTT integra várias estações.</a:t>
            </a:r>
            <a:endParaRPr lang="en-US" sz="1400" dirty="0"/>
          </a:p>
        </p:txBody>
      </p:sp>
      <p:sp>
        <p:nvSpPr>
          <p:cNvPr id="47" name="Text 39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46304" cy="14630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502920"/>
            <a:ext cx="146304" cy="146304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502920"/>
            <a:ext cx="146304" cy="146304"/>
          </a:xfrm>
          <a:prstGeom prst="rect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em funcionamento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do protótipo na estação piloto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6675120" cy="4160520"/>
          </a:xfrm>
          <a:prstGeom prst="roundRect">
            <a:avLst>
              <a:gd name="adj" fmla="val 1758"/>
            </a:avLst>
          </a:prstGeom>
          <a:solidFill>
            <a:srgbClr val="2C3A47"/>
          </a:solidFill>
          <a:ln w="19050">
            <a:solidFill>
              <a:srgbClr val="6B7B88"/>
            </a:solidFill>
            <a:prstDash val="dash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3268980"/>
            <a:ext cx="822960" cy="8229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41833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imagem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ao vivo: caixas e classes identificadas pelo YOLO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98080" y="20574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2C3A47"/>
          </a:solidFill>
          <a:ln w="19050">
            <a:solidFill>
              <a:srgbClr val="6B7B88"/>
            </a:solidFill>
            <a:prstDash val="dash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0586" y="2404872"/>
            <a:ext cx="589788" cy="5897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0" y="30861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imagem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não conformidade na estação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98080" y="425196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2C3A47"/>
          </a:solidFill>
          <a:ln w="19050">
            <a:solidFill>
              <a:srgbClr val="6B7B88"/>
            </a:solidFill>
            <a:prstDash val="dash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0586" y="4599432"/>
            <a:ext cx="589788" cy="5897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0" y="52806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imagem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indicadores (dashboard)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46304" cy="14630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502920"/>
            <a:ext cx="146304" cy="146304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502920"/>
            <a:ext cx="146304" cy="146304"/>
          </a:xfrm>
          <a:prstGeom prst="rect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Procedimentos de teste e avaliação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níveis complementares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120640" cy="4069080"/>
          </a:xfrm>
          <a:prstGeom prst="roundRect">
            <a:avLst>
              <a:gd name="adj" fmla="val 1798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Avaliação do modelo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conjunto de teste isolado (Padilla; Netto; Silva, 2020)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3246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(VP + FP)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931920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Revocação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931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(VP + FN)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617720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617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4617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harmônica das duas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303520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5303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mAP50 · mAP50-95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788920" y="5303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média em limiares de sobreposição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0" y="2103120"/>
            <a:ext cx="5669280" cy="4069080"/>
          </a:xfrm>
          <a:prstGeom prst="roundRect">
            <a:avLst>
              <a:gd name="adj" fmla="val 1798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Avaliação em operação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27889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conformes e com erros induzidos: camada errada, parafuso faltando, encaixe ausente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 de iluminação e posição; mínimo de 20 ciclos por cenário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observador registra cada ciclo e cronometra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4572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489204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da verificação · falso alarme · não detecção · erro de contagem · erro do tempo de ciclo · latência · integridade dos registros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02920"/>
            <a:ext cx="146304" cy="14630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502920"/>
            <a:ext cx="146304" cy="146304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502920"/>
            <a:ext cx="146304" cy="146304"/>
          </a:xfrm>
          <a:prstGeom prst="rect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dos dados e aspectos éticos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8973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Estatística descritiva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1488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Proporções por cenário; média, desvio-padrão, mínimo e máximo do tempo de ciclo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640080" cy="64008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33604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71600" y="3200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qualitativa dos erros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3611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alarmes e não detecções agrupados por causa: iluminação, oclusão, ângulo, anotação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4663440"/>
            <a:ext cx="640080" cy="64008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48234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4663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Comportamento do processo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50749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e não conformidades por estação e período; relatórios a partir da API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92240" y="173736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66560" y="2011680"/>
            <a:ext cx="685800" cy="6858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010" y="218313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35240" y="20116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 e confidencialidade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766560" y="292608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e dados só em equipamentos do grupo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em repositórios públicos ou serviços externos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enquadrada na bancada, sem rostos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pessoais, se houver, seguem a LGPD (Brasil, 2018)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publicadas só com autorização do laboratório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256032" cy="256032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" y="731520"/>
            <a:ext cx="256032" cy="256032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26464" y="731520"/>
            <a:ext cx="256032" cy="256032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73936" y="731520"/>
            <a:ext cx="256032" cy="256032"/>
          </a:xfrm>
          <a:prstGeom prst="rect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da metodologia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2441448"/>
            <a:ext cx="365760" cy="3657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23317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aplicada e exploratória, conduzida por Design Science Research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3310128"/>
            <a:ext cx="365760" cy="365760"/>
          </a:xfrm>
          <a:prstGeom prst="ellipse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2004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como regra de negócio, validada com a Renault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31520" y="4178808"/>
            <a:ext cx="365760" cy="365760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4069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 na borda, com hardware que o grupo já possui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5047488"/>
            <a:ext cx="365760" cy="365760"/>
          </a:xfrm>
          <a:prstGeom prst="ellipse">
            <a:avLst/>
          </a:prstGeom>
          <a:solidFill>
            <a:srgbClr val="C8413B"/>
          </a:solidFill>
          <a:ln w="12700">
            <a:solidFill>
              <a:srgbClr val="C841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4937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em dois níveis: modelo e operação na estação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 Perguntas?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Metodologia — Verificação automatizada da montagem</dc:title>
  <dc:subject>PptxGenJS Presentation</dc:subject>
  <dc:creator>PptxGenJS</dc:creator>
  <cp:lastModifiedBy>PptxGenJS</cp:lastModifiedBy>
  <cp:revision>1</cp:revision>
  <dcterms:created xsi:type="dcterms:W3CDTF">2026-09-29T23:15:49Z</dcterms:created>
  <dcterms:modified xsi:type="dcterms:W3CDTF">2026-09-29T23:15:49Z</dcterms:modified>
</cp:coreProperties>
</file>